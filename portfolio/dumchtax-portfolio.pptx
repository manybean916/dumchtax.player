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75488"/>
            <a:ext cx="91440" cy="91440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b="1" spc="6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DUMCHTAX</a:t>
            </a:r>
            <a:endParaRPr lang="en-US" sz="104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b="1" spc="60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endParaRPr lang="en-US" sz="10400" dirty="0"/>
          </a:p>
        </p:txBody>
      </p:sp>
      <p:sp>
        <p:nvSpPr>
          <p:cNvPr id="7" name="Shape 5"/>
          <p:cNvSpPr/>
          <p:nvPr/>
        </p:nvSpPr>
        <p:spPr>
          <a:xfrm>
            <a:off x="502920" y="4389120"/>
            <a:ext cx="5303520" cy="10973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4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 → MOOD → MUSIC  ·  UX/UI CASE STUDY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윤다빈 / YUNDABIN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500" kern="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UX · UI DESIGNER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 rot="240000">
            <a:off x="8229600" y="914400"/>
            <a:ext cx="3200400" cy="3429000"/>
          </a:xfrm>
          <a:prstGeom prst="rect">
            <a:avLst/>
          </a:prstGeom>
          <a:solidFill>
            <a:srgbClr val="F0EDE4"/>
          </a:solidFill>
          <a:ln w="6350">
            <a:solidFill>
              <a:srgbClr val="E0DDD4"/>
            </a:solidFill>
            <a:prstDash val="solid"/>
          </a:ln>
          <a:effectLst>
            <a:outerShdw sx="100000" sy="100000" kx="0" ky="0" algn="bl" rotWithShape="0" blurRad="127000" dist="50800" dir="84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 rot="240000">
            <a:off x="8375904" y="1060704"/>
            <a:ext cx="2907792" cy="2779776"/>
          </a:xfrm>
          <a:prstGeom prst="rect">
            <a:avLst/>
          </a:prstGeom>
          <a:solidFill>
            <a:srgbClr val="141414"/>
          </a:solidFill>
          <a:ln w="3810">
            <a:solidFill>
              <a:srgbClr val="CCCA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240000">
            <a:off x="8375904" y="388620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3835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Sun-Drenched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41080" y="1170432"/>
            <a:ext cx="2011680" cy="2011680"/>
          </a:xfrm>
          <a:prstGeom prst="ellipse">
            <a:avLst/>
          </a:prstGeom>
          <a:solidFill>
            <a:srgbClr val="0D0D0D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2131" y="1351483"/>
            <a:ext cx="1649578" cy="1649578"/>
          </a:xfrm>
          <a:prstGeom prst="ellipse">
            <a:avLst/>
          </a:prstGeom>
          <a:ln w="3810">
            <a:solidFill>
              <a:srgbClr val="1E1E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02598" y="1431950"/>
            <a:ext cx="1488643" cy="1488643"/>
          </a:xfrm>
          <a:prstGeom prst="ellipse">
            <a:avLst/>
          </a:prstGeom>
          <a:ln w="3810">
            <a:solidFill>
              <a:srgbClr val="1E1E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83066" y="1512418"/>
            <a:ext cx="1327709" cy="1327709"/>
          </a:xfrm>
          <a:prstGeom prst="ellipse">
            <a:avLst/>
          </a:prstGeom>
          <a:ln w="3810">
            <a:solidFill>
              <a:srgbClr val="1E1E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63533" y="1592885"/>
            <a:ext cx="1166774" cy="1166774"/>
          </a:xfrm>
          <a:prstGeom prst="ellipse">
            <a:avLst/>
          </a:prstGeom>
          <a:ln w="3810">
            <a:solidFill>
              <a:srgbClr val="1E1E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64701" y="1794053"/>
            <a:ext cx="764438" cy="764438"/>
          </a:xfrm>
          <a:prstGeom prst="ellipse">
            <a:avLst/>
          </a:prstGeom>
          <a:solidFill>
            <a:srgbClr val="253035"/>
          </a:solidFill>
          <a:ln w="381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76511" y="2105863"/>
            <a:ext cx="140818" cy="140818"/>
          </a:xfrm>
          <a:prstGeom prst="ellipse">
            <a:avLst/>
          </a:prstGeom>
          <a:solidFill>
            <a:srgbClr val="0A0A0A"/>
          </a:solidFill>
          <a:ln w="254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3840480"/>
            <a:ext cx="3749040" cy="457200"/>
          </a:xfrm>
          <a:prstGeom prst="ellipse">
            <a:avLst/>
          </a:prstGeom>
          <a:solidFill>
            <a:srgbClr val="913439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-360000">
            <a:off x="8686800" y="1463040"/>
            <a:ext cx="2560320" cy="2880360"/>
          </a:xfrm>
          <a:prstGeom prst="rect">
            <a:avLst/>
          </a:prstGeom>
          <a:solidFill>
            <a:srgbClr val="F0EDE4"/>
          </a:solidFill>
          <a:ln w="6350">
            <a:solidFill>
              <a:srgbClr val="E0DDD4"/>
            </a:solidFill>
            <a:prstDash val="solid"/>
          </a:ln>
          <a:effectLst>
            <a:outerShdw sx="100000" sy="100000" kx="0" ky="0" algn="bl" rotWithShape="0" blurRad="127000" dist="50800" dir="840000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 rot="-360000">
            <a:off x="8833104" y="1609344"/>
            <a:ext cx="2267712" cy="2231136"/>
          </a:xfrm>
          <a:prstGeom prst="rect">
            <a:avLst/>
          </a:prstGeom>
          <a:solidFill>
            <a:srgbClr val="1A2030"/>
          </a:solidFill>
          <a:ln w="3810">
            <a:solidFill>
              <a:srgbClr val="CCCA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 rot="-360000">
            <a:off x="8833104" y="388620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3835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Golden Hour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0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5C1F22"/>
          </a:solidFill>
          <a:ln w="12700">
            <a:solidFill>
              <a:srgbClr val="5C1F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PROJECT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A GLANCE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9144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83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50292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PLAYER · LIBRARY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64792"/>
            <a:ext cx="384048" cy="36576"/>
          </a:xfrm>
          <a:prstGeom prst="rect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783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434340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MODELS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4340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+ YouTube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764792"/>
            <a:ext cx="384048" cy="36576"/>
          </a:xfrm>
          <a:prstGeom prst="rect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783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600" dirty="0"/>
          </a:p>
        </p:txBody>
      </p:sp>
      <p:sp>
        <p:nvSpPr>
          <p:cNvPr id="15" name="Text 13"/>
          <p:cNvSpPr/>
          <p:nvPr/>
        </p:nvSpPr>
        <p:spPr>
          <a:xfrm>
            <a:off x="818388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 / CSS / JS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83880" y="1764792"/>
            <a:ext cx="384048" cy="36576"/>
          </a:xfrm>
          <a:prstGeom prst="rect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1828800"/>
            <a:ext cx="9144" cy="1645920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1828800"/>
            <a:ext cx="9144" cy="1645920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DUMCHTAX PLAYER?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4074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한 장을 찍으면 Gemini AI가 그 순간의 무드를 읽고, 어울리는 음악을 YouTube에서 찾아 재생합니다. 폴라로이드와 LP 바이닐의 아날로그 감성 속에서 디지털 음악 경험을 새롭게 정의합니다.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5394960"/>
            <a:ext cx="1737360" cy="292608"/>
          </a:xfrm>
          <a:prstGeom prst="rect">
            <a:avLst/>
          </a:prstGeom>
          <a:solidFill>
            <a:srgbClr val="EBEBE4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394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#Digilog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5394960"/>
            <a:ext cx="1737360" cy="292608"/>
          </a:xfrm>
          <a:prstGeom prst="rect">
            <a:avLst/>
          </a:prstGeom>
          <a:solidFill>
            <a:srgbClr val="EBEBE4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5394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#MoodMusic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51960" y="5394960"/>
            <a:ext cx="1737360" cy="292608"/>
          </a:xfrm>
          <a:prstGeom prst="rect">
            <a:avLst/>
          </a:prstGeom>
          <a:solidFill>
            <a:srgbClr val="EBEBE4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5394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#Polaroid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5394960"/>
            <a:ext cx="1737360" cy="292608"/>
          </a:xfrm>
          <a:prstGeom prst="rect">
            <a:avLst/>
          </a:prstGeom>
          <a:solidFill>
            <a:srgbClr val="EBEBE4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5394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01000" y="5394960"/>
            <a:ext cx="1737360" cy="292608"/>
          </a:xfrm>
          <a:prstGeom prst="rect">
            <a:avLst/>
          </a:prstGeom>
          <a:solidFill>
            <a:srgbClr val="EBEBE4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5394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#AIPhoto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875520" y="5394960"/>
            <a:ext cx="1737360" cy="292608"/>
          </a:xfrm>
          <a:prstGeom prst="rect">
            <a:avLst/>
          </a:prstGeom>
          <a:solidFill>
            <a:srgbClr val="EBEBE4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0" y="5394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#Mobile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418320" y="3931920"/>
            <a:ext cx="2286000" cy="1554480"/>
          </a:xfrm>
          <a:prstGeom prst="rect">
            <a:avLst>
              <a:gd name="adj" fmla="val 4706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91472" y="3657600"/>
            <a:ext cx="2139696" cy="292608"/>
          </a:xfrm>
          <a:prstGeom prst="rect">
            <a:avLst/>
          </a:prstGeom>
          <a:solidFill>
            <a:srgbClr val="2121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03536" y="4425696"/>
            <a:ext cx="566928" cy="56692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76688" y="4498848"/>
            <a:ext cx="420624" cy="420624"/>
          </a:xfrm>
          <a:prstGeom prst="ellipse">
            <a:avLst/>
          </a:prstGeom>
          <a:solidFill>
            <a:srgbClr val="192838"/>
          </a:solidFill>
          <a:ln w="6350">
            <a:solidFill>
              <a:srgbClr val="2A40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68128" y="4590288"/>
            <a:ext cx="237744" cy="237744"/>
          </a:xfrm>
          <a:prstGeom prst="ellipse">
            <a:avLst/>
          </a:prstGeom>
          <a:solidFill>
            <a:srgbClr val="142535"/>
          </a:solidFill>
          <a:ln w="3810">
            <a:solidFill>
              <a:srgbClr val="1A30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55480" y="3712464"/>
            <a:ext cx="256032" cy="164592"/>
          </a:xfrm>
          <a:prstGeom prst="rect">
            <a:avLst/>
          </a:prstGeom>
          <a:solidFill>
            <a:srgbClr val="0A1520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93808" y="3712464"/>
            <a:ext cx="365760" cy="164592"/>
          </a:xfrm>
          <a:prstGeom prst="rect">
            <a:avLst/>
          </a:prstGeom>
          <a:solidFill>
            <a:srgbClr val="181A10"/>
          </a:solidFill>
          <a:ln w="12700">
            <a:solidFill>
              <a:srgbClr val="3A3A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384280" y="3721608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466576" y="370332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9875520" y="3913632"/>
            <a:ext cx="137160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04120" y="52669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instax mini 40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PROBLEM SPACE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spc="3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DOES THIS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spc="3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 TO EXIST?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1F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25237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선택의 피로감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Fatigue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254203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플레이리스트 탐색에 지쳐 음악을 듣지 않는 사용자. 알고리즘 추천은 정확하지만 감성적 연결이 없다.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639312"/>
            <a:ext cx="11155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7490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1F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371600" y="38039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휘발되는 추억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187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Ephemeral Moments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94960" y="382219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사진과 그 순간의 감정은 기억되지만, 그때 들었던 음악과의 연결은 사라진다. 기억을 아카이빙할 도구가 없다.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919472"/>
            <a:ext cx="11155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50292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1F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371600" y="50840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아날로그 감성의 결핍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5468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Analog Soul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4960" y="510235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스트리밍 서비스는 편리하지만 음악을 '소유'하는 경험, 물성이 있는 감각을 줄 수 없다. 감성적 여백이 없다.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spc="3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DUMCHTAX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spc="3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SOLVES THIS.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5440680" cy="1572768"/>
          </a:xfrm>
          <a:prstGeom prst="rect">
            <a:avLst/>
          </a:prstGeom>
          <a:solidFill>
            <a:srgbClr val="EDEAE0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9535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Multimodal 감성 매칭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282696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→ Gemini Vision API → 무드 키워드 추출 → YouTube 검색. 알고리즘이 아닌 당신의 '지금 이 순간'이 플레이리스트를 만든다.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2551176"/>
            <a:ext cx="1060704" cy="219456"/>
          </a:xfrm>
          <a:prstGeom prst="rect">
            <a:avLst/>
          </a:prstGeom>
          <a:solidFill>
            <a:srgbClr val="5C1F22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55117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 CORE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309360" y="2423160"/>
            <a:ext cx="5440680" cy="1572768"/>
          </a:xfrm>
          <a:prstGeom prst="rect">
            <a:avLst/>
          </a:prstGeom>
          <a:solidFill>
            <a:srgbClr val="F0EDE4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◉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29535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오브제 중심 아카이빙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3282696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폴라로이드 형태의 카드가 LIBRARY에 쌓인다. 사진 + 음악 + 순간을 하나의 오브제로 묶어 저장하고 재생한다.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515600" y="2551176"/>
            <a:ext cx="1060704" cy="219456"/>
          </a:xfrm>
          <a:prstGeom prst="rect">
            <a:avLst/>
          </a:prstGeom>
          <a:solidFill>
            <a:srgbClr val="913439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0" y="255117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 CORE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5440680" cy="1572768"/>
          </a:xfrm>
          <a:prstGeom prst="rect">
            <a:avLst/>
          </a:prstGeom>
          <a:solidFill>
            <a:srgbClr val="EDEAE0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◫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" y="47823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아날로그 인터페이스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5111496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회전, 아날로그 페이더 내비게이션, 폴라로이드 인화 애니메이션. 디지털이지만 손으로 만지는 것처럼 느껴지는 UX.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4379976"/>
            <a:ext cx="1060704" cy="219456"/>
          </a:xfrm>
          <a:prstGeom prst="rect">
            <a:avLst/>
          </a:prstGeom>
          <a:solidFill>
            <a:srgbClr val="5C1F22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437997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DELIGHT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309360" y="4251960"/>
            <a:ext cx="5440680" cy="1572768"/>
          </a:xfrm>
          <a:prstGeom prst="rect">
            <a:avLst/>
          </a:prstGeom>
          <a:solidFill>
            <a:srgbClr val="F0EDE4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◬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92240" y="47823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Friction Onboarding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92240" y="5111496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없이도 데모 모드로 즉시 사용 가능. 설정은 설정 모달 하나에서 끝난다.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515600" y="4379976"/>
            <a:ext cx="1060704" cy="219456"/>
          </a:xfrm>
          <a:prstGeom prst="rect">
            <a:avLst/>
          </a:prstGeom>
          <a:solidFill>
            <a:srgbClr val="913439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0" y="437997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ACCESS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TARGET USER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IS THIS FOR?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155680" cy="9144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37360"/>
            <a:ext cx="3291840" cy="4206240"/>
          </a:xfrm>
          <a:prstGeom prst="rect">
            <a:avLst/>
          </a:prstGeom>
          <a:solidFill>
            <a:srgbClr val="F0EDE4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20240"/>
            <a:ext cx="1828800" cy="1828800"/>
          </a:xfrm>
          <a:prstGeom prst="ellipse">
            <a:avLst/>
          </a:prstGeom>
          <a:solidFill>
            <a:srgbClr val="D8D4C8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2011680"/>
            <a:ext cx="1097280" cy="1097280"/>
          </a:xfrm>
          <a:prstGeom prst="ellipse">
            <a:avLst/>
          </a:prstGeom>
          <a:solidFill>
            <a:srgbClr val="B8B4A8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834640"/>
            <a:ext cx="1737360" cy="822960"/>
          </a:xfrm>
          <a:prstGeom prst="rect">
            <a:avLst/>
          </a:prstGeom>
          <a:solidFill>
            <a:srgbClr val="B8B4A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86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김지수 / 25세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22452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대학원생 / 사진 좋아하는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밀레니얼·Z세대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4846320"/>
            <a:ext cx="64008" cy="64008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7914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 사진 자주 촬영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5074920"/>
            <a:ext cx="64008" cy="64008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50200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음악은 무드로 선택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5303520"/>
            <a:ext cx="64008" cy="64008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52486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아날로그 물건 수집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5532120"/>
            <a:ext cx="64008" cy="64008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54772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헤비유저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69080" y="1755648"/>
            <a:ext cx="7635240" cy="914400"/>
          </a:xfrm>
          <a:prstGeom prst="rect">
            <a:avLst/>
          </a:prstGeom>
          <a:solidFill>
            <a:srgbClr val="F0EDE4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9080" y="1755648"/>
            <a:ext cx="502920" cy="914400"/>
          </a:xfrm>
          <a:prstGeom prst="rect">
            <a:avLst/>
          </a:prstGeom>
          <a:solidFill>
            <a:srgbClr val="5C1F22"/>
          </a:solidFill>
          <a:ln/>
        </p:spPr>
      </p:sp>
      <p:sp>
        <p:nvSpPr>
          <p:cNvPr id="22" name="Text 20"/>
          <p:cNvSpPr/>
          <p:nvPr/>
        </p:nvSpPr>
        <p:spPr>
          <a:xfrm>
            <a:off x="4069080" y="20299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9160" y="1828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사진 촬영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9160" y="21945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산책 중 노을 사진을 찍는다. 앱을 열고 TAKE PHOTO 버튼을 탭한다.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635240" y="265176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69080" y="2779776"/>
            <a:ext cx="7635240" cy="914400"/>
          </a:xfrm>
          <a:prstGeom prst="rect">
            <a:avLst/>
          </a:prstGeom>
          <a:solidFill>
            <a:srgbClr val="EAEAE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9080" y="2779776"/>
            <a:ext cx="502920" cy="914400"/>
          </a:xfrm>
          <a:prstGeom prst="rect">
            <a:avLst/>
          </a:prstGeom>
          <a:solidFill>
            <a:srgbClr val="5C1F22"/>
          </a:solidFill>
          <a:ln/>
        </p:spPr>
      </p:sp>
      <p:sp>
        <p:nvSpPr>
          <p:cNvPr id="28" name="Text 26"/>
          <p:cNvSpPr/>
          <p:nvPr/>
        </p:nvSpPr>
        <p:spPr>
          <a:xfrm>
            <a:off x="4069080" y="30540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09160" y="2852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무드 분석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09160" y="321868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셔터 플래시 후 폴라로이드가 인화된다. Gemini가 '따뜻함, 그리움'을 읽는다.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35240" y="367588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69080" y="3803904"/>
            <a:ext cx="7635240" cy="914400"/>
          </a:xfrm>
          <a:prstGeom prst="rect">
            <a:avLst/>
          </a:prstGeom>
          <a:solidFill>
            <a:srgbClr val="F0EDE4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9080" y="3803904"/>
            <a:ext cx="502920" cy="914400"/>
          </a:xfrm>
          <a:prstGeom prst="rect">
            <a:avLst/>
          </a:prstGeom>
          <a:solidFill>
            <a:srgbClr val="5C1F22"/>
          </a:solidFill>
          <a:ln/>
        </p:spPr>
      </p:sp>
      <p:sp>
        <p:nvSpPr>
          <p:cNvPr id="34" name="Text 32"/>
          <p:cNvSpPr/>
          <p:nvPr/>
        </p:nvSpPr>
        <p:spPr>
          <a:xfrm>
            <a:off x="4069080" y="40782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709160" y="38770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음악 재생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709160" y="4242816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페이더가 PLAYER로 이동. LP가 돌기 시작하며 IU의 '밤편지'가 흐른다.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635240" y="470001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069080" y="4828032"/>
            <a:ext cx="7635240" cy="914400"/>
          </a:xfrm>
          <a:prstGeom prst="rect">
            <a:avLst/>
          </a:prstGeom>
          <a:solidFill>
            <a:srgbClr val="EAEAE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69080" y="4828032"/>
            <a:ext cx="502920" cy="914400"/>
          </a:xfrm>
          <a:prstGeom prst="rect">
            <a:avLst/>
          </a:prstGeom>
          <a:solidFill>
            <a:srgbClr val="913439"/>
          </a:solidFill>
          <a:ln/>
        </p:spPr>
      </p:sp>
      <p:sp>
        <p:nvSpPr>
          <p:cNvPr id="40" name="Text 38"/>
          <p:cNvSpPr/>
          <p:nvPr/>
        </p:nvSpPr>
        <p:spPr>
          <a:xfrm>
            <a:off x="4069080" y="51023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709160" y="4901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추억 저장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709160" y="526694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♡ 탭 → 페이더가 LIBRARY로. 폴라로이드가 보드에 툭 떨어진다.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DESIGN PHILOSOPHY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-91440" y="914400"/>
            <a:ext cx="12344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spc="200" kern="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DIGILOG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760720" y="1371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11155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68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디지털의 편의와 아날로그의 물성·감성을 동시에 추구하는 디자인 철학.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Dumchtax Player는 스마트폰 앱이지만 폴라로이드 카메라처럼, Spotify이지만 LP 플레이어처럼 경험된다.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4407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TACTILE FIRST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드래그·햅틱·물리 기반 인터랙션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92424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92424" y="4407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UX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92424" y="4754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폴라로이드·LP·카메라 오브제 중심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27832" y="3931920"/>
            <a:ext cx="9144" cy="12801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◫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81928" y="4407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 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81928" y="4754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즉각성 없는 여백, 인화 대기의 미학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17336" y="3931920"/>
            <a:ext cx="9144" cy="12801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71432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◬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71432" y="4407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DARK CANVAS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71432" y="4754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빛을 담는 어두운 배경, 감성 집중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06840" y="3931920"/>
            <a:ext cx="9144" cy="12801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5285232"/>
            <a:ext cx="11155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"손에 잡히는 것처럼 느껴지는 디지털. 기억되는 음악."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DESIGN SYSTEM — COLOR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5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46120" y="6583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50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11155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1920240" cy="1691640"/>
          </a:xfrm>
          <a:prstGeom prst="rect">
            <a:avLst/>
          </a:prstGeom>
          <a:solidFill>
            <a:srgbClr val="0A0A0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#0A0A0A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621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 DARK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background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51760" y="1874520"/>
            <a:ext cx="1920240" cy="1691640"/>
          </a:xfrm>
          <a:prstGeom prst="rect">
            <a:avLst/>
          </a:prstGeom>
          <a:solidFill>
            <a:srgbClr val="141414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#141414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51760" y="3621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surface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1874520"/>
            <a:ext cx="1920240" cy="1691640"/>
          </a:xfrm>
          <a:prstGeom prst="rect">
            <a:avLst/>
          </a:prstGeom>
          <a:solidFill>
            <a:srgbClr val="2C2C2C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#2C2C2C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3621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Dividers &amp; lines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49440" y="1874520"/>
            <a:ext cx="1920240" cy="1691640"/>
          </a:xfrm>
          <a:prstGeom prst="rect">
            <a:avLst/>
          </a:prstGeom>
          <a:solidFill>
            <a:srgbClr val="913439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#913439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49440" y="3621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action, REC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98280" y="1874520"/>
            <a:ext cx="1920240" cy="1691640"/>
          </a:xfrm>
          <a:prstGeom prst="rect">
            <a:avLst/>
          </a:prstGeom>
          <a:solidFill>
            <a:srgbClr val="5C1F22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8280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#5C1F22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98280" y="3621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 DIM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98280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/ pressed state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4023360"/>
            <a:ext cx="1920240" cy="1691640"/>
          </a:xfrm>
          <a:prstGeom prst="rect">
            <a:avLst/>
          </a:prstGeom>
          <a:solidFill>
            <a:srgbClr val="F0ED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212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#F0EDE4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5769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POLAROID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6035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paper surface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51760" y="4023360"/>
            <a:ext cx="1920240" cy="1691640"/>
          </a:xfrm>
          <a:prstGeom prst="rect">
            <a:avLst/>
          </a:prstGeom>
          <a:solidFill>
            <a:srgbClr val="F5F5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5212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#F5F5F0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51760" y="5769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 LIGHT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51760" y="6035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page bg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4023360"/>
            <a:ext cx="1920240" cy="1691640"/>
          </a:xfrm>
          <a:prstGeom prst="rect">
            <a:avLst/>
          </a:prstGeom>
          <a:solidFill>
            <a:srgbClr val="5A5A5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5212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#5A5A5A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00600" y="5769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6035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 on light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49440" y="4023360"/>
            <a:ext cx="1920240" cy="1691640"/>
          </a:xfrm>
          <a:prstGeom prst="rect">
            <a:avLst/>
          </a:prstGeom>
          <a:solidFill>
            <a:srgbClr val="9A9A9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5212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#9A9A9A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49440" y="5769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6035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on dark bg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098280" y="4023360"/>
            <a:ext cx="1920240" cy="1691640"/>
          </a:xfrm>
          <a:prstGeom prst="rect">
            <a:avLst/>
          </a:prstGeom>
          <a:solidFill>
            <a:srgbClr val="DEDAD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98280" y="5212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#DEDAD0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098280" y="5769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 LT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098280" y="6035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Dividers on light bg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DESIGN SYSTEM — TYPE &amp; COMPONENTS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144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spc="3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TYPOGRAPHY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spc="3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COMPONENTS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4937760" cy="9144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59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74520" y="23225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DUMCHTAX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0" y="241401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40–64px / Consolas Bold / 한글 대제목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5394960" cy="9144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1638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 PLAYER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2186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20–28px / Consolas Bold / 섹션 제목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822192"/>
            <a:ext cx="5394960" cy="9144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684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7452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 800  ●  REC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4023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10–12px / Consolas / 캡션·태그·라벨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4626864"/>
            <a:ext cx="5394960" cy="9144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731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74520" y="4736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무드가 음악이 되는 순간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48280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13–15px / Calibri / 설명 본문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5431536"/>
            <a:ext cx="5394960" cy="9144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577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HANDWRITE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74520" y="55412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A0A0A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Sun-Drenched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563270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16px / Script / 폴라로이드 캡션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6236208"/>
            <a:ext cx="5394960" cy="9144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365760"/>
            <a:ext cx="9144" cy="6217920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COMPONENTS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822960"/>
            <a:ext cx="2194560" cy="2331720"/>
          </a:xfrm>
          <a:prstGeom prst="rect">
            <a:avLst/>
          </a:prstGeom>
          <a:solidFill>
            <a:srgbClr val="F0EDE4"/>
          </a:solidFill>
          <a:ln w="6350">
            <a:solidFill>
              <a:srgbClr val="E0DD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55664" y="969264"/>
            <a:ext cx="1901952" cy="1682496"/>
          </a:xfrm>
          <a:prstGeom prst="rect">
            <a:avLst/>
          </a:prstGeom>
          <a:solidFill>
            <a:srgbClr val="D0CCC0"/>
          </a:solidFill>
          <a:ln w="3810">
            <a:solidFill>
              <a:srgbClr val="CCCA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55664" y="269748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3835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Golden Hour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0" y="1051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POLAROID CARD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 frame F0EDE4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16px padding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caption font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tilt ±10°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3291840"/>
            <a:ext cx="1645920" cy="1645920"/>
          </a:xfrm>
          <a:prstGeom prst="ellipse">
            <a:avLst/>
          </a:prstGeom>
          <a:solidFill>
            <a:srgbClr val="0D0D0D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57493" y="3439973"/>
            <a:ext cx="1349654" cy="1349654"/>
          </a:xfrm>
          <a:prstGeom prst="ellipse">
            <a:avLst/>
          </a:prstGeom>
          <a:ln w="3810">
            <a:solidFill>
              <a:srgbClr val="1E1E1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23330" y="3505810"/>
            <a:ext cx="1217981" cy="1217981"/>
          </a:xfrm>
          <a:prstGeom prst="ellipse">
            <a:avLst/>
          </a:prstGeom>
          <a:ln w="3810">
            <a:solidFill>
              <a:srgbClr val="1E1E1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9166" y="3571646"/>
            <a:ext cx="1086307" cy="1086307"/>
          </a:xfrm>
          <a:prstGeom prst="ellipse">
            <a:avLst/>
          </a:prstGeom>
          <a:ln w="3810">
            <a:solidFill>
              <a:srgbClr val="1E1E1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55003" y="3637483"/>
            <a:ext cx="954634" cy="954634"/>
          </a:xfrm>
          <a:prstGeom prst="ellipse">
            <a:avLst/>
          </a:prstGeom>
          <a:ln w="3810">
            <a:solidFill>
              <a:srgbClr val="1E1E1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9595" y="3802075"/>
            <a:ext cx="625450" cy="625450"/>
          </a:xfrm>
          <a:prstGeom prst="ellipse">
            <a:avLst/>
          </a:prstGeom>
          <a:solidFill>
            <a:srgbClr val="B0ACA0"/>
          </a:solidFill>
          <a:ln w="381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74713" y="4057193"/>
            <a:ext cx="115214" cy="115214"/>
          </a:xfrm>
          <a:prstGeom prst="ellipse">
            <a:avLst/>
          </a:prstGeom>
          <a:solidFill>
            <a:srgbClr val="0A0A0A"/>
          </a:solidFill>
          <a:ln w="254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 DISC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183880" y="3749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 vinyl 0D0D0D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 이미지 회전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1.8s/rev playing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= stop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9360" y="5212080"/>
            <a:ext cx="3200400" cy="164592"/>
          </a:xfrm>
          <a:prstGeom prst="rect">
            <a:avLst/>
          </a:prstGeom>
          <a:solidFill>
            <a:srgbClr val="D0CCC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0216" y="5157216"/>
            <a:ext cx="18288" cy="274320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44" name="Shape 42"/>
          <p:cNvSpPr/>
          <p:nvPr/>
        </p:nvSpPr>
        <p:spPr>
          <a:xfrm>
            <a:off x="7900416" y="5157216"/>
            <a:ext cx="18288" cy="274320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45" name="Shape 43"/>
          <p:cNvSpPr/>
          <p:nvPr/>
        </p:nvSpPr>
        <p:spPr>
          <a:xfrm>
            <a:off x="9500616" y="5157216"/>
            <a:ext cx="18288" cy="274320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46" name="Shape 44"/>
          <p:cNvSpPr/>
          <p:nvPr/>
        </p:nvSpPr>
        <p:spPr>
          <a:xfrm>
            <a:off x="6949440" y="5084064"/>
            <a:ext cx="640080" cy="310896"/>
          </a:xfrm>
          <a:prstGeom prst="rect">
            <a:avLst/>
          </a:prstGeom>
          <a:solidFill>
            <a:srgbClr val="F0EDE4"/>
          </a:solidFill>
          <a:ln w="12700">
            <a:solidFill>
              <a:srgbClr val="C0BC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51192" y="5212080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46920" y="5166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FADER NAV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646920" y="5440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notch positions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on pass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snap 300px/s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content drag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USER 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3-PAGE FLOW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9144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3520440" cy="4526280"/>
          </a:xfrm>
          <a:prstGeom prst="rect">
            <a:avLst>
              <a:gd name="adj" fmla="val 5714"/>
            </a:avLst>
          </a:prstGeom>
          <a:solidFill>
            <a:srgbClr val="E5E2D8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947672"/>
            <a:ext cx="3191256" cy="4197096"/>
          </a:xfrm>
          <a:prstGeom prst="rect">
            <a:avLst>
              <a:gd name="adj" fmla="val 4298"/>
            </a:avLst>
          </a:prstGeom>
          <a:solidFill>
            <a:srgbClr val="1A203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65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5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29718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" y="300837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PHOTO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TAKE PHOTO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977640"/>
            <a:ext cx="29718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9848" y="401421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셔터 플래시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폴라로이드 인화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983480"/>
            <a:ext cx="29718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5056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9848" y="502005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무드 분석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65960" y="6035040"/>
            <a:ext cx="91440" cy="91440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0280" y="6035040"/>
            <a:ext cx="64008" cy="64008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6035040"/>
            <a:ext cx="64008" cy="64008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1783080"/>
            <a:ext cx="3520440" cy="4526280"/>
          </a:xfrm>
          <a:prstGeom prst="rect">
            <a:avLst>
              <a:gd name="adj" fmla="val 5714"/>
            </a:avLst>
          </a:prstGeom>
          <a:solidFill>
            <a:srgbClr val="E5E2D8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1947672"/>
            <a:ext cx="3191256" cy="4197096"/>
          </a:xfrm>
          <a:prstGeom prst="rect">
            <a:avLst>
              <a:gd name="adj" fmla="val 4298"/>
            </a:avLst>
          </a:prstGeom>
          <a:solidFill>
            <a:srgbClr val="1A1A0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5968" y="1965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◉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315968" y="2423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5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590288" y="2971800"/>
            <a:ext cx="29718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608576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82896" y="300837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회전 시작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페이더 이동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90288" y="3977640"/>
            <a:ext cx="29718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608576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82896" y="401421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♡ 탭 → 저장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음악 재생 중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90288" y="4983480"/>
            <a:ext cx="29718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608576" y="5056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2896" y="502005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/ NEXT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 페이더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79008" y="6035040"/>
            <a:ext cx="64008" cy="64008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53328" y="6035040"/>
            <a:ext cx="91440" cy="91440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7648" y="6035040"/>
            <a:ext cx="64008" cy="64008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1783080"/>
            <a:ext cx="3520440" cy="4526280"/>
          </a:xfrm>
          <a:prstGeom prst="rect">
            <a:avLst>
              <a:gd name="adj" fmla="val 5714"/>
            </a:avLst>
          </a:prstGeom>
          <a:solidFill>
            <a:srgbClr val="E5E2D8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02752" y="1947672"/>
            <a:ext cx="3191256" cy="4197096"/>
          </a:xfrm>
          <a:prstGeom prst="rect">
            <a:avLst>
              <a:gd name="adj" fmla="val 4298"/>
            </a:avLst>
          </a:prstGeom>
          <a:solidFill>
            <a:srgbClr val="1A1A2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160" y="1965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▣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8138160" y="2423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5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412480" y="2971800"/>
            <a:ext cx="29718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430768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705088" y="300837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폴라로이드 낙하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보드에 저장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412480" y="3977640"/>
            <a:ext cx="29718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43076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705088" y="401421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탭 →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재생 복원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412480" y="4983480"/>
            <a:ext cx="29718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430768" y="5056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705088" y="502005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PLAYBACK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리셔플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601200" y="6035040"/>
            <a:ext cx="64008" cy="64008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75520" y="6035040"/>
            <a:ext cx="64008" cy="64008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149840" y="6035040"/>
            <a:ext cx="91440" cy="91440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69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3995928" y="40050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FADER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88212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7808976" y="40050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FADER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02920" y="6510528"/>
            <a:ext cx="11247120" cy="10973"/>
          </a:xfrm>
          <a:prstGeom prst="rect">
            <a:avLst/>
          </a:prstGeom>
          <a:solidFill>
            <a:srgbClr val="DEDAD0"/>
          </a:solidFill>
          <a:ln/>
        </p:spPr>
      </p:sp>
      <p:sp>
        <p:nvSpPr>
          <p:cNvPr id="59" name="Text 57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KEY SCREEN — HOME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5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 THE MOMENT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11155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468880"/>
            <a:ext cx="2926080" cy="2103120"/>
          </a:xfrm>
          <a:prstGeom prst="rect">
            <a:avLst>
              <a:gd name="adj" fmla="val 347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2194560"/>
            <a:ext cx="2779776" cy="292608"/>
          </a:xfrm>
          <a:prstGeom prst="rect">
            <a:avLst/>
          </a:prstGeom>
          <a:solidFill>
            <a:srgbClr val="2121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31366" y="3236976"/>
            <a:ext cx="566928" cy="56692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04518" y="3310128"/>
            <a:ext cx="420624" cy="420624"/>
          </a:xfrm>
          <a:prstGeom prst="ellipse">
            <a:avLst/>
          </a:prstGeom>
          <a:solidFill>
            <a:srgbClr val="192838"/>
          </a:solidFill>
          <a:ln w="6350">
            <a:solidFill>
              <a:srgbClr val="2A4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95958" y="3401568"/>
            <a:ext cx="237744" cy="237744"/>
          </a:xfrm>
          <a:prstGeom prst="ellipse">
            <a:avLst/>
          </a:prstGeom>
          <a:solidFill>
            <a:srgbClr val="142535"/>
          </a:solidFill>
          <a:ln w="3810">
            <a:solidFill>
              <a:srgbClr val="1A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9424"/>
            <a:ext cx="256032" cy="164592"/>
          </a:xfrm>
          <a:prstGeom prst="rect">
            <a:avLst/>
          </a:prstGeom>
          <a:solidFill>
            <a:srgbClr val="0A1520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8408" y="2249424"/>
            <a:ext cx="365760" cy="164592"/>
          </a:xfrm>
          <a:prstGeom prst="rect">
            <a:avLst/>
          </a:prstGeom>
          <a:solidFill>
            <a:srgbClr val="181A10"/>
          </a:solidFill>
          <a:ln w="12700">
            <a:solidFill>
              <a:srgbClr val="3A3A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2258568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1256" y="224028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1088136" y="2450592"/>
            <a:ext cx="1755648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4352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instax mini 40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61188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343400" y="2103120"/>
            <a:ext cx="2377440" cy="2514600"/>
          </a:xfrm>
          <a:prstGeom prst="rect">
            <a:avLst/>
          </a:prstGeom>
          <a:solidFill>
            <a:srgbClr val="F0EDE4"/>
          </a:solidFill>
          <a:ln w="6350">
            <a:solidFill>
              <a:srgbClr val="E0DDD4"/>
            </a:solidFill>
            <a:prstDash val="solid"/>
          </a:ln>
          <a:effectLst>
            <a:outerShdw sx="100000" sy="100000" kx="0" ky="0" algn="bl" rotWithShape="0" blurRad="127000" dist="50800" dir="84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9704" y="2249424"/>
            <a:ext cx="2084832" cy="1865376"/>
          </a:xfrm>
          <a:prstGeom prst="rect">
            <a:avLst/>
          </a:prstGeom>
          <a:solidFill>
            <a:srgbClr val="253045"/>
          </a:solidFill>
          <a:ln w="3810">
            <a:solidFill>
              <a:srgbClr val="CCCA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9704" y="416052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3835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Mood: Nostalgic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2075688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96912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 800 ● REC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96912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스테이터스 레이블 — 아날로그 카메라 감성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96912" y="2651760"/>
            <a:ext cx="466344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86600" y="2852928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96912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SHUTTER FLASH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96912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촬영 시 화면 전체 플래시 → 폴라로이드 슬롯 배출 애니메이션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96912" y="3429000"/>
            <a:ext cx="466344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86600" y="3630168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96912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필름 인화 애니메이션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296912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흑백 → 컬러 + blur 해제 + grain 페이드 (약 2.4초)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96912" y="4206240"/>
            <a:ext cx="466344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86600" y="4407408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96912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/ TAKE PHOTO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296912" y="4617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갤러리 선택 or 카메라 촬영 듀얼 입력 방식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96912" y="4983480"/>
            <a:ext cx="466344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5394960"/>
            <a:ext cx="1115568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623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258568" y="5623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3831336" y="5623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VISION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04104" y="5623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976872" y="5623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MOOD KEYWORDS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49640" y="5623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0122408" y="5623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 SEARCH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KEY SCREEN — PLAYER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5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MUSIC STARTS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11155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4114800" cy="4114800"/>
          </a:xfrm>
          <a:prstGeom prst="ellipse">
            <a:avLst/>
          </a:prstGeom>
          <a:solidFill>
            <a:srgbClr val="5C1F22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011680"/>
            <a:ext cx="3840480" cy="3840480"/>
          </a:xfrm>
          <a:prstGeom prst="ellipse">
            <a:avLst/>
          </a:prstGeom>
          <a:solidFill>
            <a:srgbClr val="0D0D0D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1443" y="2357323"/>
            <a:ext cx="3149194" cy="3149194"/>
          </a:xfrm>
          <a:prstGeom prst="ellipse">
            <a:avLst/>
          </a:prstGeom>
          <a:ln w="3810">
            <a:solidFill>
              <a:srgbClr val="1E1E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5062" y="2510942"/>
            <a:ext cx="2841955" cy="2841955"/>
          </a:xfrm>
          <a:prstGeom prst="ellipse">
            <a:avLst/>
          </a:prstGeom>
          <a:ln w="3810">
            <a:solidFill>
              <a:srgbClr val="1E1E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38682" y="2664562"/>
            <a:ext cx="2534717" cy="2534717"/>
          </a:xfrm>
          <a:prstGeom prst="ellipse">
            <a:avLst/>
          </a:prstGeom>
          <a:ln w="3810">
            <a:solidFill>
              <a:srgbClr val="1E1E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92301" y="2818181"/>
            <a:ext cx="2227478" cy="2227478"/>
          </a:xfrm>
          <a:prstGeom prst="ellipse">
            <a:avLst/>
          </a:prstGeom>
          <a:ln w="3810">
            <a:solidFill>
              <a:srgbClr val="1E1E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6349" y="3202229"/>
            <a:ext cx="1459382" cy="1459382"/>
          </a:xfrm>
          <a:prstGeom prst="ellipse">
            <a:avLst/>
          </a:prstGeom>
          <a:solidFill>
            <a:srgbClr val="30404A"/>
          </a:solidFill>
          <a:ln w="381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71623" y="3797503"/>
            <a:ext cx="268834" cy="268834"/>
          </a:xfrm>
          <a:prstGeom prst="ellipse">
            <a:avLst/>
          </a:prstGeom>
          <a:solidFill>
            <a:srgbClr val="0A0A0A"/>
          </a:solidFill>
          <a:ln w="254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80000">
            <a:off x="2103120" y="3657600"/>
            <a:ext cx="1828800" cy="2057400"/>
          </a:xfrm>
          <a:prstGeom prst="rect">
            <a:avLst/>
          </a:prstGeom>
          <a:solidFill>
            <a:srgbClr val="F0EDE4"/>
          </a:solidFill>
          <a:ln w="6350">
            <a:solidFill>
              <a:srgbClr val="E0DDD4"/>
            </a:solidFill>
            <a:prstDash val="solid"/>
          </a:ln>
          <a:effectLst>
            <a:outerShdw sx="100000" sy="100000" kx="0" ky="0" algn="bl" rotWithShape="0" blurRad="127000" dist="50800" dir="84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 rot="180000">
            <a:off x="2249424" y="3803904"/>
            <a:ext cx="1536192" cy="1408176"/>
          </a:xfrm>
          <a:prstGeom prst="rect">
            <a:avLst/>
          </a:prstGeom>
          <a:solidFill>
            <a:srgbClr val="253040"/>
          </a:solidFill>
          <a:ln w="3810">
            <a:solidFill>
              <a:srgbClr val="CCCA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 rot="180000">
            <a:off x="2249424" y="52578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3835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IU — 밤편지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6035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⏮  ▶  ⏭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120640" y="2075688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0952" y="20116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 회전 애니메이션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30952" y="22860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재생 시 1.8s/rev 시계방향 회전. 일시정지 시 즉시 정지. 중앙 썸네일도 함께 회전.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30952" y="2679192"/>
            <a:ext cx="6583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2852928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0952" y="27889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 GLOW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30952" y="306324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뒤에 accent 색상 glow 효과. 음악이 켜진 상태임을 공간으로 표현.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30952" y="3456432"/>
            <a:ext cx="6583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3630168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0952" y="35661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♡ HEART BUTTON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30952" y="384048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폴라로이드 우측 상단 빈 하트. 저장 시 #913439 fill. 다시 탭하면 저장 취소.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30952" y="4233672"/>
            <a:ext cx="6583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4407408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0952" y="43434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FADER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30952" y="46177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 페이더로 볼륨 조절. YouTube IFrame API volume() 연동.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30952" y="5010912"/>
            <a:ext cx="6583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0" y="5184648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30952" y="51206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오디오 전용 재생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330952" y="53949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IFrame을 -400px 오프스크린 배치. 화면은 LP + 폴라로이드만 보임.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30952" y="5788152"/>
            <a:ext cx="6583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KEY SCREEN — LIBRARY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5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SCATTERED MEMORIES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11155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480000">
            <a:off x="365760" y="2103120"/>
            <a:ext cx="2103120" cy="2240280"/>
          </a:xfrm>
          <a:prstGeom prst="rect">
            <a:avLst/>
          </a:prstGeom>
          <a:solidFill>
            <a:srgbClr val="F0EDE4"/>
          </a:solidFill>
          <a:ln w="6350">
            <a:solidFill>
              <a:srgbClr val="E0DDD4"/>
            </a:solidFill>
            <a:prstDash val="solid"/>
          </a:ln>
          <a:effectLst>
            <a:outerShdw sx="100000" sy="100000" kx="0" ky="0" algn="bl" rotWithShape="0" blurRad="127000" dist="50800" dir="84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 rot="-480000">
            <a:off x="512064" y="2249424"/>
            <a:ext cx="1810512" cy="1591056"/>
          </a:xfrm>
          <a:prstGeom prst="rect">
            <a:avLst/>
          </a:prstGeom>
          <a:solidFill>
            <a:srgbClr val="2A3545"/>
          </a:solidFill>
          <a:ln w="3810">
            <a:solidFill>
              <a:srgbClr val="CCCA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 rot="-480000">
            <a:off x="512064" y="388620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3835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밤편지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300000">
            <a:off x="1920240" y="2606040"/>
            <a:ext cx="1920240" cy="2103120"/>
          </a:xfrm>
          <a:prstGeom prst="rect">
            <a:avLst/>
          </a:prstGeom>
          <a:solidFill>
            <a:srgbClr val="F0EDE4"/>
          </a:solidFill>
          <a:ln w="6350">
            <a:solidFill>
              <a:srgbClr val="E0DDD4"/>
            </a:solidFill>
            <a:prstDash val="solid"/>
          </a:ln>
          <a:effectLst>
            <a:outerShdw sx="100000" sy="100000" kx="0" ky="0" algn="bl" rotWithShape="0" blurRad="127000" dist="50800" dir="84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 rot="300000">
            <a:off x="2066544" y="2752344"/>
            <a:ext cx="1627632" cy="1453896"/>
          </a:xfrm>
          <a:prstGeom prst="rect">
            <a:avLst/>
          </a:prstGeom>
          <a:solidFill>
            <a:srgbClr val="352535"/>
          </a:solidFill>
          <a:ln w="3810">
            <a:solidFill>
              <a:srgbClr val="CCCA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300000">
            <a:off x="2066544" y="42519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3835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우주를 줄게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-180000">
            <a:off x="3200400" y="2011680"/>
            <a:ext cx="2194560" cy="2331720"/>
          </a:xfrm>
          <a:prstGeom prst="rect">
            <a:avLst/>
          </a:prstGeom>
          <a:solidFill>
            <a:srgbClr val="F0EDE4"/>
          </a:solidFill>
          <a:ln w="6350">
            <a:solidFill>
              <a:srgbClr val="E0DDD4"/>
            </a:solidFill>
            <a:prstDash val="solid"/>
          </a:ln>
          <a:effectLst>
            <a:outerShdw sx="100000" sy="100000" kx="0" ky="0" algn="bl" rotWithShape="0" blurRad="127000" dist="50800" dir="84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 rot="-180000">
            <a:off x="3346704" y="2157984"/>
            <a:ext cx="1901952" cy="1682496"/>
          </a:xfrm>
          <a:prstGeom prst="rect">
            <a:avLst/>
          </a:prstGeom>
          <a:solidFill>
            <a:srgbClr val="45352A"/>
          </a:solidFill>
          <a:ln w="3810">
            <a:solidFill>
              <a:srgbClr val="CCCA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 rot="-180000">
            <a:off x="3346704" y="38862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3835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BOYHOOD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420000">
            <a:off x="822960" y="3977640"/>
            <a:ext cx="1828800" cy="2011680"/>
          </a:xfrm>
          <a:prstGeom prst="rect">
            <a:avLst/>
          </a:prstGeom>
          <a:solidFill>
            <a:srgbClr val="F0EDE4"/>
          </a:solidFill>
          <a:ln w="6350">
            <a:solidFill>
              <a:srgbClr val="E0DDD4"/>
            </a:solidFill>
            <a:prstDash val="solid"/>
          </a:ln>
          <a:effectLst>
            <a:outerShdw sx="100000" sy="100000" kx="0" ky="0" algn="bl" rotWithShape="0" blurRad="127000" dist="50800" dir="84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 rot="420000">
            <a:off x="969264" y="4123944"/>
            <a:ext cx="1536192" cy="1362456"/>
          </a:xfrm>
          <a:prstGeom prst="rect">
            <a:avLst/>
          </a:prstGeom>
          <a:solidFill>
            <a:srgbClr val="253535"/>
          </a:solidFill>
          <a:ln w="3810">
            <a:solidFill>
              <a:srgbClr val="CCCA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 rot="420000">
            <a:off x="969264" y="553212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3835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위잉위잉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-240000">
            <a:off x="2286000" y="4389120"/>
            <a:ext cx="2011680" cy="2148840"/>
          </a:xfrm>
          <a:prstGeom prst="rect">
            <a:avLst/>
          </a:prstGeom>
          <a:solidFill>
            <a:srgbClr val="F0EDE4"/>
          </a:solidFill>
          <a:ln w="6350">
            <a:solidFill>
              <a:srgbClr val="E0DDD4"/>
            </a:solidFill>
            <a:prstDash val="solid"/>
          </a:ln>
          <a:effectLst>
            <a:outerShdw sx="100000" sy="100000" kx="0" ky="0" algn="bl" rotWithShape="0" blurRad="127000" dist="50800" dir="84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 rot="-240000">
            <a:off x="2432304" y="4535424"/>
            <a:ext cx="1719072" cy="1499616"/>
          </a:xfrm>
          <a:prstGeom prst="rect">
            <a:avLst/>
          </a:prstGeom>
          <a:solidFill>
            <a:srgbClr val="303045"/>
          </a:solidFill>
          <a:ln w="3810">
            <a:solidFill>
              <a:srgbClr val="CCCA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 rot="-240000">
            <a:off x="2432304" y="608076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3835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기억을걷는시간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075688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88152" y="20116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랜덤 배치 &amp; 자유 드래그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88152" y="22860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카드는 랜덤 각도·위치로 배치. 손가락으로 자유롭게 이동 가능. 위치는 localStorage 영속.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88152" y="2679192"/>
            <a:ext cx="603504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2852928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27889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 → 재생 복원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88152" y="30632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탭 시 저장된 사진 + 음악 조합 그대로 PLAYER 화면으로 이동 &amp; 재생.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88152" y="3456432"/>
            <a:ext cx="603504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3630168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88152" y="35661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♡ 저장 토글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788152" y="38404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후 다시 하트 탭 → 라이브러리에서 삭제. 중복 저장 방지 로직 내장.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88152" y="4233672"/>
            <a:ext cx="603504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77840" y="4407408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88152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 PLAYBACK LOG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788152" y="46177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탭 시 카드 위치/각도 리셔플. 기록이 '흩어진' 추억처럼 재구성됨.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88152" y="5010912"/>
            <a:ext cx="603504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5989320"/>
            <a:ext cx="4937760" cy="347472"/>
          </a:xfrm>
          <a:prstGeom prst="rect">
            <a:avLst/>
          </a:prstGeom>
          <a:solidFill>
            <a:srgbClr val="141414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6099048"/>
            <a:ext cx="91440" cy="91440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60167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 PLAYBACK LOG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17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INTERACTION — FADER NAVIGATION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144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spc="3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 FADER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spc="3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1155680" cy="9144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395728"/>
            <a:ext cx="3200400" cy="164592"/>
          </a:xfrm>
          <a:prstGeom prst="rect">
            <a:avLst/>
          </a:prstGeom>
          <a:solidFill>
            <a:srgbClr val="D8D5CC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2331720"/>
            <a:ext cx="18288" cy="292608"/>
          </a:xfrm>
          <a:prstGeom prst="rect">
            <a:avLst/>
          </a:prstGeom>
          <a:solidFill>
            <a:srgbClr val="913439"/>
          </a:solidFill>
          <a:ln/>
        </p:spPr>
      </p:sp>
      <p:sp>
        <p:nvSpPr>
          <p:cNvPr id="8" name="Shape 6"/>
          <p:cNvSpPr/>
          <p:nvPr/>
        </p:nvSpPr>
        <p:spPr>
          <a:xfrm>
            <a:off x="2093976" y="2331720"/>
            <a:ext cx="18288" cy="292608"/>
          </a:xfrm>
          <a:prstGeom prst="rect">
            <a:avLst/>
          </a:prstGeom>
          <a:solidFill>
            <a:srgbClr val="A0A090"/>
          </a:solidFill>
          <a:ln/>
        </p:spPr>
      </p:sp>
      <p:sp>
        <p:nvSpPr>
          <p:cNvPr id="9" name="Shape 7"/>
          <p:cNvSpPr/>
          <p:nvPr/>
        </p:nvSpPr>
        <p:spPr>
          <a:xfrm>
            <a:off x="3694176" y="2331720"/>
            <a:ext cx="18288" cy="292608"/>
          </a:xfrm>
          <a:prstGeom prst="rect">
            <a:avLst/>
          </a:prstGeom>
          <a:solidFill>
            <a:srgbClr val="A0A090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" y="2295144"/>
            <a:ext cx="640080" cy="310896"/>
          </a:xfrm>
          <a:prstGeom prst="rect">
            <a:avLst/>
          </a:prstGeom>
          <a:solidFill>
            <a:srgbClr val="F0EDE4"/>
          </a:solidFill>
          <a:ln w="6350">
            <a:solidFill>
              <a:srgbClr val="C0BC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77440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331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 (0%)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" y="25877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83080" y="25877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83280" y="25877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3721608"/>
            <a:ext cx="3200400" cy="164592"/>
          </a:xfrm>
          <a:prstGeom prst="rect">
            <a:avLst/>
          </a:prstGeom>
          <a:solidFill>
            <a:srgbClr val="D8D5CC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" y="3657600"/>
            <a:ext cx="18288" cy="292608"/>
          </a:xfrm>
          <a:prstGeom prst="rect">
            <a:avLst/>
          </a:prstGeom>
          <a:solidFill>
            <a:srgbClr val="A0A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2093976" y="3657600"/>
            <a:ext cx="18288" cy="292608"/>
          </a:xfrm>
          <a:prstGeom prst="rect">
            <a:avLst/>
          </a:prstGeom>
          <a:solidFill>
            <a:srgbClr val="913439"/>
          </a:solidFill>
          <a:ln/>
        </p:spPr>
      </p:sp>
      <p:sp>
        <p:nvSpPr>
          <p:cNvPr id="19" name="Shape 17"/>
          <p:cNvSpPr/>
          <p:nvPr/>
        </p:nvSpPr>
        <p:spPr>
          <a:xfrm>
            <a:off x="3694176" y="3657600"/>
            <a:ext cx="18288" cy="292608"/>
          </a:xfrm>
          <a:prstGeom prst="rect">
            <a:avLst/>
          </a:prstGeom>
          <a:solidFill>
            <a:srgbClr val="A0A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1783080" y="3621024"/>
            <a:ext cx="640080" cy="310896"/>
          </a:xfrm>
          <a:prstGeom prst="rect">
            <a:avLst/>
          </a:prstGeom>
          <a:solidFill>
            <a:srgbClr val="F0EDE4"/>
          </a:solidFill>
          <a:ln w="6350">
            <a:solidFill>
              <a:srgbClr val="C0BC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57400" y="3703320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3657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(50%)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" y="39136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83080" y="39136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83280" y="39136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5047488"/>
            <a:ext cx="3200400" cy="164592"/>
          </a:xfrm>
          <a:prstGeom prst="rect">
            <a:avLst/>
          </a:prstGeom>
          <a:solidFill>
            <a:srgbClr val="D8D5CC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" y="4983480"/>
            <a:ext cx="18288" cy="292608"/>
          </a:xfrm>
          <a:prstGeom prst="rect">
            <a:avLst/>
          </a:prstGeom>
          <a:solidFill>
            <a:srgbClr val="A0A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2093976" y="4983480"/>
            <a:ext cx="18288" cy="292608"/>
          </a:xfrm>
          <a:prstGeom prst="rect">
            <a:avLst/>
          </a:prstGeom>
          <a:solidFill>
            <a:srgbClr val="A0A090"/>
          </a:solidFill>
          <a:ln/>
        </p:spPr>
      </p:sp>
      <p:sp>
        <p:nvSpPr>
          <p:cNvPr id="29" name="Shape 27"/>
          <p:cNvSpPr/>
          <p:nvPr/>
        </p:nvSpPr>
        <p:spPr>
          <a:xfrm>
            <a:off x="3694176" y="4983480"/>
            <a:ext cx="18288" cy="292608"/>
          </a:xfrm>
          <a:prstGeom prst="rect">
            <a:avLst/>
          </a:prstGeom>
          <a:solidFill>
            <a:srgbClr val="913439"/>
          </a:solidFill>
          <a:ln/>
        </p:spPr>
      </p:sp>
      <p:sp>
        <p:nvSpPr>
          <p:cNvPr id="30" name="Shape 28"/>
          <p:cNvSpPr/>
          <p:nvPr/>
        </p:nvSpPr>
        <p:spPr>
          <a:xfrm>
            <a:off x="3383280" y="4946904"/>
            <a:ext cx="640080" cy="310896"/>
          </a:xfrm>
          <a:prstGeom prst="rect">
            <a:avLst/>
          </a:prstGeom>
          <a:solidFill>
            <a:srgbClr val="F0EDE4"/>
          </a:solidFill>
          <a:ln w="6350">
            <a:solidFill>
              <a:srgbClr val="C0BC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0" y="5029200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0" y="4983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 (100%)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82880" y="5239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783080" y="5239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83280" y="5239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23760" y="2331720"/>
            <a:ext cx="4572000" cy="914400"/>
          </a:xfrm>
          <a:prstGeom prst="rect">
            <a:avLst/>
          </a:prstGeom>
          <a:solidFill>
            <a:srgbClr val="EDEAE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6092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◈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772400" y="2423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 드래그 동기화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72400" y="27340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페이더 드래그와 콘텐츠 스크롤이 동일 비율로 연동됩니다. 자연스러운 물리 피드백.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23760" y="3383280"/>
            <a:ext cx="4572000" cy="914400"/>
          </a:xfrm>
          <a:prstGeom prst="rect">
            <a:avLst/>
          </a:prstGeom>
          <a:solidFill>
            <a:srgbClr val="F0EDE4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6092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◉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772400" y="3474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눈금 통과 햅틱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772400" y="37856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navigator.vibrate(30)으로 노치 통과 시 진동. 아날로그 믹서의 클릭 감을 재현.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223760" y="4434840"/>
            <a:ext cx="4572000" cy="914400"/>
          </a:xfrm>
          <a:prstGeom prst="rect">
            <a:avLst/>
          </a:prstGeom>
          <a:solidFill>
            <a:srgbClr val="EDEAE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609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◫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772400" y="4526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자석 스냅 300px/s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772400" y="483717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손을 떼면 가장 가까운 위치로 스냅. 플리킹 속도 300px/s 이상이면 다음 탭으로.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223760" y="5486400"/>
            <a:ext cx="4572000" cy="914400"/>
          </a:xfrm>
          <a:prstGeom prst="rect">
            <a:avLst/>
          </a:prstGeom>
          <a:solidFill>
            <a:srgbClr val="F0EDE4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60920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◬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772400" y="5577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레이블 weight 보간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772400" y="588873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활성 탭 레이블은 bold, 나머지는 normal. 드래그 중 실시간 보간.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645566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navigator.vibrate(30)  →  노치 통과    navigator.vibrate([50,30,50])  →  스냅 착지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17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MICRO-INTERACTIONS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058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spc="3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MICRO-ANIMATIONS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spc="3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INTERACTIONS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1155680" cy="9144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286000"/>
            <a:ext cx="2514600" cy="292608"/>
          </a:xfrm>
          <a:prstGeom prst="rect">
            <a:avLst/>
          </a:prstGeom>
          <a:solidFill>
            <a:srgbClr val="5C1F22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2286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08960" y="2286000"/>
            <a:ext cx="2468880" cy="292608"/>
          </a:xfrm>
          <a:prstGeom prst="rect">
            <a:avLst/>
          </a:prstGeom>
          <a:solidFill>
            <a:srgbClr val="5C1F22"/>
          </a:solidFill>
          <a:ln/>
        </p:spPr>
      </p:sp>
      <p:sp>
        <p:nvSpPr>
          <p:cNvPr id="9" name="Text 7"/>
          <p:cNvSpPr/>
          <p:nvPr/>
        </p:nvSpPr>
        <p:spPr>
          <a:xfrm>
            <a:off x="3218688" y="2286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2286000"/>
            <a:ext cx="3017520" cy="292608"/>
          </a:xfrm>
          <a:prstGeom prst="rect">
            <a:avLst/>
          </a:prstGeom>
          <a:solidFill>
            <a:srgbClr val="5C1F22"/>
          </a:solidFill>
          <a:ln/>
        </p:spPr>
      </p:sp>
      <p:sp>
        <p:nvSpPr>
          <p:cNvPr id="11" name="Text 9"/>
          <p:cNvSpPr/>
          <p:nvPr/>
        </p:nvSpPr>
        <p:spPr>
          <a:xfrm>
            <a:off x="5779008" y="2286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778240" y="2286000"/>
            <a:ext cx="2743200" cy="292608"/>
          </a:xfrm>
          <a:prstGeom prst="rect">
            <a:avLst/>
          </a:prstGeom>
          <a:solidFill>
            <a:srgbClr val="5C1F22"/>
          </a:solidFill>
          <a:ln/>
        </p:spPr>
      </p:sp>
      <p:sp>
        <p:nvSpPr>
          <p:cNvPr id="13" name="Text 11"/>
          <p:cNvSpPr/>
          <p:nvPr/>
        </p:nvSpPr>
        <p:spPr>
          <a:xfrm>
            <a:off x="8887968" y="2286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PURPOSE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670048"/>
            <a:ext cx="11155680" cy="457200"/>
          </a:xfrm>
          <a:prstGeom prst="rect">
            <a:avLst/>
          </a:prstGeom>
          <a:solidFill>
            <a:srgbClr val="F0EDE4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270662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폴라로이드 인화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18688" y="270662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선택/촬영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79008" y="270662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플래시 → 토출 → 흑백→컬러 + blur + grain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87968" y="2706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기대감 형성, 느림의 미학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145536"/>
            <a:ext cx="11155680" cy="457200"/>
          </a:xfrm>
          <a:prstGeom prst="rect">
            <a:avLst/>
          </a:prstGeom>
          <a:solidFill>
            <a:srgbClr val="EAEAE0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31821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 회전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18688" y="31821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재생 시작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79008" y="318211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1.8s/rev CW rotate, pause = stop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87968" y="318211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음악 재생 상태 시각화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621024"/>
            <a:ext cx="11155680" cy="457200"/>
          </a:xfrm>
          <a:prstGeom prst="rect">
            <a:avLst/>
          </a:prstGeom>
          <a:solidFill>
            <a:srgbClr val="F0EDE4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" y="36576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폴라로이드 낙하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18688" y="3657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♡ 탭 저장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79008" y="36576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중력+bounce 물리 드롭, --angle 개인 기울기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887968" y="36576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저장의 물성 피드백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096512"/>
            <a:ext cx="11155680" cy="457200"/>
          </a:xfrm>
          <a:prstGeom prst="rect">
            <a:avLst/>
          </a:prstGeom>
          <a:solidFill>
            <a:srgbClr val="EAEAE0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41330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하트 팝 애니메이션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18688" y="413308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완료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779008" y="413308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1→1.4→1 + fill 색상 전환 300ms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887968" y="413308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감정적 긍정 강화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572000"/>
            <a:ext cx="11155680" cy="457200"/>
          </a:xfrm>
          <a:prstGeom prst="rect">
            <a:avLst/>
          </a:prstGeom>
          <a:solidFill>
            <a:srgbClr val="F0EDE4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" y="460857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셔터 플래시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18688" y="460857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촬영 버튼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79008" y="4608576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전체 #FFF 0.3s 페이드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887968" y="460857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실감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5047488"/>
            <a:ext cx="11155680" cy="457200"/>
          </a:xfrm>
          <a:prstGeom prst="rect">
            <a:avLst/>
          </a:prstGeom>
          <a:solidFill>
            <a:srgbClr val="EAEAE0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" y="50840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노치 햅틱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18688" y="508406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페이더 드래그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779008" y="508406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navigator.vibrate(30)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887968" y="508406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아날로그 촉각 피드백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" y="5522976"/>
            <a:ext cx="11155680" cy="457200"/>
          </a:xfrm>
          <a:prstGeom prst="rect">
            <a:avLst/>
          </a:prstGeom>
          <a:solidFill>
            <a:srgbClr val="F0EDE4"/>
          </a:solidFill>
          <a:ln/>
        </p:spPr>
      </p:sp>
      <p:sp>
        <p:nvSpPr>
          <p:cNvPr id="45" name="Text 43"/>
          <p:cNvSpPr/>
          <p:nvPr/>
        </p:nvSpPr>
        <p:spPr>
          <a:xfrm>
            <a:off x="612648" y="555955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스냅 착지 햅틱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218688" y="555955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페이더 손 뗌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779008" y="555955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navigator.vibrate([50,30,50])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887968" y="555955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 전환 완료 확인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02920" y="5998464"/>
            <a:ext cx="11155680" cy="457200"/>
          </a:xfrm>
          <a:prstGeom prst="rect">
            <a:avLst/>
          </a:prstGeom>
          <a:solidFill>
            <a:srgbClr val="EAEAE0"/>
          </a:solidFill>
          <a:ln/>
        </p:spPr>
      </p:sp>
      <p:sp>
        <p:nvSpPr>
          <p:cNvPr id="50" name="Text 48"/>
          <p:cNvSpPr/>
          <p:nvPr/>
        </p:nvSpPr>
        <p:spPr>
          <a:xfrm>
            <a:off x="612648" y="60350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토스트 메시지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18688" y="60350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저장/삭제 액션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779008" y="603504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slide-up + fade 2s auto-dismiss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887968" y="60350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변화 명확한 피드백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17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TECHNICAL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VANILLA FIRST · ZERO DEPENDENCY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1155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148840"/>
            <a:ext cx="2788920" cy="320040"/>
          </a:xfrm>
          <a:prstGeom prst="rect">
            <a:avLst/>
          </a:prstGeom>
          <a:solidFill>
            <a:srgbClr val="1C2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67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496312"/>
            <a:ext cx="278892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94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markup, 3 pages, no framework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456432"/>
            <a:ext cx="278892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295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822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properties, keyframes, pointer events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416552"/>
            <a:ext cx="278892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897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Vanilla JS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7823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ES6+, no bundler, ~700 lines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29000" y="2148840"/>
            <a:ext cx="2788920" cy="320040"/>
          </a:xfrm>
          <a:prstGeom prst="rect">
            <a:avLst/>
          </a:prstGeom>
          <a:solidFill>
            <a:srgbClr val="1E1E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167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/ ANALYSIS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29000" y="2496312"/>
            <a:ext cx="278892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5694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2.5 Flash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mood extraction, music query generation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29000" y="3456432"/>
            <a:ext cx="278892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5295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2.0 Flash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66160" y="3822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model (429 rate limit short-circuit)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2148840"/>
            <a:ext cx="2788920" cy="320040"/>
          </a:xfrm>
          <a:prstGeom prst="rect">
            <a:avLst/>
          </a:prstGeom>
          <a:solidFill>
            <a:srgbClr val="1E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167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/ PLAYBACK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55080" y="2496312"/>
            <a:ext cx="278892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5694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 Data API v3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search (videoCategoryId=10, embeddable)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55080" y="3456432"/>
            <a:ext cx="278892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5295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 IFrame API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92240" y="3822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Audio-only playback (player off-screen -400px)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281160" y="2148840"/>
            <a:ext cx="2788920" cy="320040"/>
          </a:xfrm>
          <a:prstGeom prst="rect">
            <a:avLst/>
          </a:prstGeom>
          <a:solidFill>
            <a:srgbClr val="0A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18320" y="2167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281160" y="2496312"/>
            <a:ext cx="278892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320" y="25694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41832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cards, API keys, card positions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281160" y="3456432"/>
            <a:ext cx="278892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18320" y="35295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Variables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418320" y="3822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--angle, --color-* design tokens runtime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1089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0350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9611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2920" y="5257800"/>
            <a:ext cx="11155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5349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DESIGN DECISIONS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920" y="5705856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5650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framework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5800" y="5897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복잡도 최소화, 정적 서버 즉시 실행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206240" y="5705856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0" y="5650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Audio-only IFrame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389120" y="5897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영상 표시 없이 음악만 재생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909560" y="5705856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92440" y="5650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 API fallback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092440" y="5897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2.5-flash → 2.0-flash 자동 폴백 + 데모 모드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KPI &amp; SUCCESS METRICS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 METRICS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9144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2377440" cy="2926080"/>
          </a:xfrm>
          <a:prstGeom prst="rect">
            <a:avLst/>
          </a:prstGeom>
          <a:solidFill>
            <a:srgbClr val="F0EDE4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2377440" cy="292608"/>
          </a:xfrm>
          <a:prstGeom prst="rect">
            <a:avLst/>
          </a:prstGeom>
          <a:solidFill>
            <a:srgbClr val="91343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3s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12648" y="33832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" y="37490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무드 분석 완료 목표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(현재 avg 1.8s)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63240" y="1828800"/>
            <a:ext cx="2377440" cy="2926080"/>
          </a:xfrm>
          <a:prstGeom prst="rect">
            <a:avLst/>
          </a:prstGeom>
          <a:solidFill>
            <a:srgbClr val="F0EDE4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1828800"/>
            <a:ext cx="2377440" cy="292608"/>
          </a:xfrm>
          <a:prstGeom prst="rect">
            <a:avLst/>
          </a:prstGeom>
          <a:solidFill>
            <a:srgbClr val="913439"/>
          </a:solidFill>
          <a:ln/>
        </p:spPr>
      </p:sp>
      <p:sp>
        <p:nvSpPr>
          <p:cNvPr id="14" name="Text 12"/>
          <p:cNvSpPr/>
          <p:nvPr/>
        </p:nvSpPr>
        <p:spPr>
          <a:xfrm>
            <a:off x="3063240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63240" y="221284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90%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3172968" y="33832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MOOD MATCH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72968" y="37490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분석된 무드와 재생 음악의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일치 만족도 목표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23560" y="1828800"/>
            <a:ext cx="2377440" cy="2926080"/>
          </a:xfrm>
          <a:prstGeom prst="rect">
            <a:avLst/>
          </a:prstGeom>
          <a:solidFill>
            <a:srgbClr val="EAEAE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23560" y="1828800"/>
            <a:ext cx="2377440" cy="292608"/>
          </a:xfrm>
          <a:prstGeom prst="rect">
            <a:avLst/>
          </a:prstGeom>
          <a:solidFill>
            <a:srgbClr val="5C1F22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221284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70%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5733288" y="33832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33288" y="37490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재생 이후 폴라로이드 저장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전환율 목표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83880" y="1828800"/>
            <a:ext cx="2377440" cy="2926080"/>
          </a:xfrm>
          <a:prstGeom prst="rect">
            <a:avLst/>
          </a:prstGeom>
          <a:solidFill>
            <a:srgbClr val="EAEAE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1828800"/>
            <a:ext cx="2377440" cy="292608"/>
          </a:xfrm>
          <a:prstGeom prst="rect">
            <a:avLst/>
          </a:prstGeom>
          <a:solidFill>
            <a:srgbClr val="5C1F22"/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83880" y="221284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2.0+</a:t>
            </a:r>
            <a:endParaRPr lang="en-US" sz="6400" dirty="0"/>
          </a:p>
        </p:txBody>
      </p:sp>
      <p:sp>
        <p:nvSpPr>
          <p:cNvPr id="28" name="Text 26"/>
          <p:cNvSpPr/>
          <p:nvPr/>
        </p:nvSpPr>
        <p:spPr>
          <a:xfrm>
            <a:off x="8293608" y="33832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REPLAYS/CARD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93608" y="37490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저장된 카드 재재생 평균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횟수 목표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983480"/>
            <a:ext cx="11155680" cy="9144"/>
          </a:xfrm>
          <a:prstGeom prst="rect">
            <a:avLst/>
          </a:prstGeom>
          <a:solidFill>
            <a:srgbClr val="DEDAD0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5074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UX QUALITY GOALS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5468112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54132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사용 30초 내 음악 재생 도달 (Zero Config Path)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5742432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6875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폴라로이드 드롭 애니메이션 이질감 없이 자연스럽게 (Delight Quality)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6016752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59618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없이도 데모 모드로 핵심 경험 전달 (Resilient UX)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6291072"/>
            <a:ext cx="73152" cy="73152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62362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카드 재재생 시 "그때 그 기분" 감성 재현 (Emotional Continuity)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817352" y="6446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17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4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"사진 한 장이</a:t>
            </a:r>
            <a:endParaRPr lang="en-US" sz="6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400" b="1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음악이 되는 순간"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02920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spc="200" kern="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Dumchtax Player, 2025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4434840"/>
            <a:ext cx="11155680" cy="914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663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윤다빈  /  YUNDABIN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5120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400" kern="0" dirty="0">
                <a:solidFill>
                  <a:srgbClr val="9134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UX · UI DESIGNER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5687568"/>
            <a:ext cx="82296" cy="82296"/>
          </a:xfrm>
          <a:prstGeom prst="ellipse">
            <a:avLst/>
          </a:prstGeom>
          <a:solidFill>
            <a:srgbClr val="913439"/>
          </a:solidFill>
          <a:ln w="12700">
            <a:solidFill>
              <a:srgbClr val="9134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56327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 ·  github.com/manybean916/dumchtax.player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-360000">
            <a:off x="8595360" y="731520"/>
            <a:ext cx="2743200" cy="2788920"/>
          </a:xfrm>
          <a:prstGeom prst="rect">
            <a:avLst/>
          </a:prstGeom>
          <a:solidFill>
            <a:srgbClr val="F0EDE4"/>
          </a:solidFill>
          <a:ln w="6350">
            <a:solidFill>
              <a:srgbClr val="E0DDD4"/>
            </a:solidFill>
            <a:prstDash val="solid"/>
          </a:ln>
          <a:effectLst>
            <a:outerShdw sx="100000" sy="100000" kx="0" ky="0" algn="bl" rotWithShape="0" blurRad="127000" dist="50800" dir="84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 rot="-360000">
            <a:off x="8741664" y="877824"/>
            <a:ext cx="2450592" cy="2139696"/>
          </a:xfrm>
          <a:prstGeom prst="rect">
            <a:avLst/>
          </a:prstGeom>
          <a:solidFill>
            <a:srgbClr val="30404A"/>
          </a:solidFill>
          <a:ln w="3810">
            <a:solidFill>
              <a:srgbClr val="CCCA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360000">
            <a:off x="8741664" y="306324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3835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Scattered Memories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480000">
            <a:off x="9052560" y="1828800"/>
            <a:ext cx="2560320" cy="2606040"/>
          </a:xfrm>
          <a:prstGeom prst="rect">
            <a:avLst/>
          </a:prstGeom>
          <a:solidFill>
            <a:srgbClr val="F0EDE4"/>
          </a:solidFill>
          <a:ln w="6350">
            <a:solidFill>
              <a:srgbClr val="E0DDD4"/>
            </a:solidFill>
            <a:prstDash val="solid"/>
          </a:ln>
          <a:effectLst>
            <a:outerShdw sx="100000" sy="100000" kx="0" ky="0" algn="bl" rotWithShape="0" blurRad="127000" dist="50800" dir="84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 rot="480000">
            <a:off x="9198864" y="1975104"/>
            <a:ext cx="2267712" cy="1956816"/>
          </a:xfrm>
          <a:prstGeom prst="rect">
            <a:avLst/>
          </a:prstGeom>
          <a:solidFill>
            <a:srgbClr val="402830"/>
          </a:solidFill>
          <a:ln w="3810">
            <a:solidFill>
              <a:srgbClr val="CCCA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 rot="480000">
            <a:off x="9198864" y="397764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3835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Golden Hour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-180000">
            <a:off x="8778240" y="3200400"/>
            <a:ext cx="2377440" cy="2423160"/>
          </a:xfrm>
          <a:prstGeom prst="rect">
            <a:avLst/>
          </a:prstGeom>
          <a:solidFill>
            <a:srgbClr val="F0EDE4"/>
          </a:solidFill>
          <a:ln w="6350">
            <a:solidFill>
              <a:srgbClr val="E0DDD4"/>
            </a:solidFill>
            <a:prstDash val="solid"/>
          </a:ln>
          <a:effectLst>
            <a:outerShdw sx="100000" sy="100000" kx="0" ky="0" algn="bl" rotWithShape="0" blurRad="127000" dist="50800" dir="84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 rot="-180000">
            <a:off x="8924544" y="3346704"/>
            <a:ext cx="2084832" cy="1773936"/>
          </a:xfrm>
          <a:prstGeom prst="rect">
            <a:avLst/>
          </a:prstGeom>
          <a:solidFill>
            <a:srgbClr val="2A3040"/>
          </a:solidFill>
          <a:ln w="3810">
            <a:solidFill>
              <a:srgbClr val="CCCA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 rot="-180000">
            <a:off x="8924544" y="516636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3835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밤편지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5C1F22"/>
          </a:solidFill>
          <a:ln w="12700">
            <a:solidFill>
              <a:srgbClr val="5C1F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08476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400" kern="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DUMCHTAX PLAYER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Dumchtax Player — UX/UI Design Portfolio</dc:title>
  <dc:subject>PptxGenJS Presentation</dc:subject>
  <dc:creator>윤다빈</dc:creator>
  <cp:lastModifiedBy>윤다빈</cp:lastModifiedBy>
  <cp:revision>1</cp:revision>
  <dcterms:created xsi:type="dcterms:W3CDTF">2026-06-12T01:18:49Z</dcterms:created>
  <dcterms:modified xsi:type="dcterms:W3CDTF">2026-06-12T01:18:49Z</dcterms:modified>
</cp:coreProperties>
</file>